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25"/>
  </p:notesMasterIdLst>
  <p:sldIdLst>
    <p:sldId id="274" r:id="rId2"/>
    <p:sldId id="287" r:id="rId3"/>
    <p:sldId id="285" r:id="rId4"/>
    <p:sldId id="256" r:id="rId5"/>
    <p:sldId id="273" r:id="rId6"/>
    <p:sldId id="286" r:id="rId7"/>
    <p:sldId id="281" r:id="rId8"/>
    <p:sldId id="260" r:id="rId9"/>
    <p:sldId id="277" r:id="rId10"/>
    <p:sldId id="262" r:id="rId11"/>
    <p:sldId id="263" r:id="rId12"/>
    <p:sldId id="265" r:id="rId13"/>
    <p:sldId id="264" r:id="rId14"/>
    <p:sldId id="266" r:id="rId15"/>
    <p:sldId id="282" r:id="rId16"/>
    <p:sldId id="278" r:id="rId17"/>
    <p:sldId id="283" r:id="rId18"/>
    <p:sldId id="284" r:id="rId19"/>
    <p:sldId id="268" r:id="rId20"/>
    <p:sldId id="267" r:id="rId21"/>
    <p:sldId id="269" r:id="rId22"/>
    <p:sldId id="275" r:id="rId23"/>
    <p:sldId id="270" r:id="rId24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howGuides="1">
      <p:cViewPr varScale="1">
        <p:scale>
          <a:sx n="117" d="100"/>
          <a:sy n="117" d="100"/>
        </p:scale>
        <p:origin x="567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67220-1B96-4DA5-B7A1-84D047CC6925}" type="datetimeFigureOut">
              <a:rPr lang="de-DE" smtClean="0"/>
              <a:t>22.05.2019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BC9B7-CEE0-44D4-B023-47E438D622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862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7863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BC9B7-CEE0-44D4-B023-47E438D6223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591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8184" y="1218304"/>
            <a:ext cx="8633012" cy="1414169"/>
          </a:xfrm>
        </p:spPr>
        <p:txBody>
          <a:bodyPr anchor="b">
            <a:normAutofit/>
          </a:bodyPr>
          <a:lstStyle>
            <a:lvl1pPr algn="ctr">
              <a:defRPr sz="405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8184" y="2701531"/>
            <a:ext cx="8633012" cy="150896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40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348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222" y="222648"/>
            <a:ext cx="6477687" cy="94535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223" y="1248966"/>
            <a:ext cx="8641556" cy="3429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35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223" y="222648"/>
            <a:ext cx="6480571" cy="94535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51223" y="1248966"/>
            <a:ext cx="4186307" cy="3429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703781" y="1248967"/>
            <a:ext cx="4188998" cy="342899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54255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223" y="222648"/>
            <a:ext cx="6480571" cy="94535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093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222" y="234750"/>
            <a:ext cx="3774827" cy="933254"/>
          </a:xfrm>
        </p:spPr>
        <p:txBody>
          <a:bodyPr anchor="b"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026048" y="1259055"/>
            <a:ext cx="4866731" cy="341891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51223" y="1259055"/>
            <a:ext cx="3774826" cy="3418911"/>
          </a:xfrm>
        </p:spPr>
        <p:txBody>
          <a:bodyPr/>
          <a:lstStyle>
            <a:lvl1pPr marL="0" indent="0">
              <a:buNone/>
              <a:defRPr sz="1200"/>
            </a:lvl1pPr>
            <a:lvl2pPr marL="342875" indent="0">
              <a:buNone/>
              <a:defRPr sz="1100"/>
            </a:lvl2pPr>
            <a:lvl3pPr marL="685749" indent="0">
              <a:buNone/>
              <a:defRPr sz="900"/>
            </a:lvl3pPr>
            <a:lvl4pPr marL="1028624" indent="0">
              <a:buNone/>
              <a:defRPr sz="800"/>
            </a:lvl4pPr>
            <a:lvl5pPr marL="1371498" indent="0">
              <a:buNone/>
              <a:defRPr sz="800"/>
            </a:lvl5pPr>
            <a:lvl6pPr marL="1714373" indent="0">
              <a:buNone/>
              <a:defRPr sz="800"/>
            </a:lvl6pPr>
            <a:lvl7pPr marL="2057246" indent="0">
              <a:buNone/>
              <a:defRPr sz="800"/>
            </a:lvl7pPr>
            <a:lvl8pPr marL="2400120" indent="0">
              <a:buNone/>
              <a:defRPr sz="800"/>
            </a:lvl8pPr>
            <a:lvl9pPr marL="2742995" indent="0">
              <a:buNone/>
              <a:defRPr sz="8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47978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425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521" y="0"/>
            <a:ext cx="7632848" cy="789552"/>
          </a:xfrm>
          <a:prstGeom prst="rect">
            <a:avLst/>
          </a:prstGeom>
        </p:spPr>
        <p:txBody>
          <a:bodyPr anchor="ctr"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951570"/>
            <a:ext cx="8640960" cy="3780420"/>
          </a:xfrm>
        </p:spPr>
        <p:txBody>
          <a:bodyPr/>
          <a:lstStyle>
            <a:lvl1pPr>
              <a:tabLst>
                <a:tab pos="266700" algn="l"/>
                <a:tab pos="542925" algn="l"/>
                <a:tab pos="876300" algn="l"/>
                <a:tab pos="1209675" algn="l"/>
                <a:tab pos="1543050" algn="l"/>
              </a:tabLst>
              <a:defRPr/>
            </a:lvl1pPr>
            <a:lvl2pPr defTabSz="333375">
              <a:tabLst>
                <a:tab pos="266700" algn="l"/>
                <a:tab pos="571500" algn="l"/>
                <a:tab pos="876300" algn="l"/>
                <a:tab pos="1209675" algn="l"/>
                <a:tab pos="1543050" algn="l"/>
              </a:tabLst>
              <a:defRPr/>
            </a:lvl2pPr>
            <a:lvl3pPr>
              <a:tabLst>
                <a:tab pos="266700" algn="l"/>
                <a:tab pos="542925" algn="l"/>
                <a:tab pos="876300" algn="l"/>
                <a:tab pos="1209675" algn="l"/>
                <a:tab pos="1543050" algn="l"/>
              </a:tabLst>
              <a:defRPr/>
            </a:lvl3pPr>
            <a:lvl4pPr>
              <a:tabLst>
                <a:tab pos="266700" algn="l"/>
                <a:tab pos="542925" algn="l"/>
                <a:tab pos="876300" algn="l"/>
                <a:tab pos="1209675" algn="l"/>
                <a:tab pos="1543050" algn="l"/>
              </a:tabLst>
              <a:defRPr/>
            </a:lvl4pPr>
            <a:lvl5pPr>
              <a:tabLst>
                <a:tab pos="266700" algn="l"/>
                <a:tab pos="542925" algn="l"/>
                <a:tab pos="876300" algn="l"/>
                <a:tab pos="1209675" algn="l"/>
                <a:tab pos="1543050" algn="l"/>
              </a:tabLst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048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1874231"/>
            <a:ext cx="7772400" cy="1021556"/>
          </a:xfrm>
          <a:prstGeom prst="rect">
            <a:avLst/>
          </a:prstGeom>
          <a:solidFill>
            <a:srgbClr val="009DDF"/>
          </a:solidFill>
        </p:spPr>
        <p:txBody>
          <a:bodyPr anchor="ctr"/>
          <a:lstStyle>
            <a:lvl1pPr algn="ctr">
              <a:defRPr sz="2100" b="1" cap="none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3568" y="3381841"/>
            <a:ext cx="7772400" cy="1125140"/>
          </a:xfrm>
        </p:spPr>
        <p:txBody>
          <a:bodyPr anchor="t"/>
          <a:lstStyle>
            <a:lvl1pPr marL="0" indent="0" algn="ctr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428167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521" y="0"/>
            <a:ext cx="7632848" cy="789552"/>
          </a:xfrm>
          <a:prstGeom prst="rect">
            <a:avLst/>
          </a:prstGeom>
        </p:spPr>
        <p:txBody>
          <a:bodyPr anchor="ctr"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51520" y="1005576"/>
            <a:ext cx="4248472" cy="37264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4009" y="1005576"/>
            <a:ext cx="4248472" cy="37264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8763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hyperlink" Target="http://www.db-berater.de/" TargetMode="Externa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65580" y="241572"/>
            <a:ext cx="6463329" cy="923330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5579" y="1258645"/>
            <a:ext cx="8617547" cy="3404795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728908" y="241572"/>
            <a:ext cx="2154218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800" b="1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de-DE" sz="1800" b="1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de-DE" sz="750" b="1" dirty="0"/>
              <a:t>Planung – Installation</a:t>
            </a:r>
            <a:r>
              <a:rPr lang="de-DE" sz="750" b="1" baseline="0" dirty="0"/>
              <a:t> – Optimierung</a:t>
            </a:r>
            <a:br>
              <a:rPr lang="de-DE" sz="750" b="1" baseline="0" dirty="0"/>
            </a:br>
            <a:br>
              <a:rPr lang="de-DE" sz="750" b="1" baseline="0" dirty="0"/>
            </a:br>
            <a:endParaRPr lang="de-DE" sz="750" b="1" dirty="0"/>
          </a:p>
          <a:p>
            <a:pPr algn="r"/>
            <a:r>
              <a:rPr lang="de-DE" sz="750" b="1" dirty="0">
                <a:hlinkClick r:id="rId11"/>
              </a:rPr>
              <a:t>http://www.db-berater.de</a:t>
            </a:r>
            <a:endParaRPr lang="de-DE" sz="750" b="1" dirty="0"/>
          </a:p>
          <a:p>
            <a:pPr algn="r"/>
            <a:r>
              <a:rPr lang="de-DE" sz="750" b="1" dirty="0"/>
              <a:t>info@db-berater.de</a:t>
            </a:r>
          </a:p>
        </p:txBody>
      </p:sp>
      <p:cxnSp>
        <p:nvCxnSpPr>
          <p:cNvPr id="6" name="Gerader Verbinder 5"/>
          <p:cNvCxnSpPr/>
          <p:nvPr/>
        </p:nvCxnSpPr>
        <p:spPr>
          <a:xfrm>
            <a:off x="265579" y="4727986"/>
            <a:ext cx="861754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265579" y="4792532"/>
            <a:ext cx="16062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b="1" dirty="0">
                <a:solidFill>
                  <a:schemeClr val="accent1"/>
                </a:solidFill>
              </a:rPr>
              <a:t>Autor: </a:t>
            </a:r>
            <a:r>
              <a:rPr lang="de-DE" sz="900" b="1" dirty="0"/>
              <a:t>Uwe Ricken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6728909" y="4792532"/>
            <a:ext cx="21542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 b="1" dirty="0">
                <a:solidFill>
                  <a:schemeClr val="accent1"/>
                </a:solidFill>
              </a:rPr>
              <a:t>©: </a:t>
            </a:r>
            <a:r>
              <a:rPr lang="de-DE" sz="900" b="1" dirty="0"/>
              <a:t>db</a:t>
            </a:r>
            <a:r>
              <a:rPr lang="de-DE" sz="900" b="1" baseline="0" dirty="0"/>
              <a:t> Berater GmbH </a:t>
            </a:r>
            <a:r>
              <a:rPr lang="de-DE" sz="900" b="1" baseline="0"/>
              <a:t>(2019)</a:t>
            </a:r>
            <a:endParaRPr lang="de-DE" sz="900" b="1" dirty="0"/>
          </a:p>
        </p:txBody>
      </p:sp>
    </p:spTree>
    <p:extLst>
      <p:ext uri="{BB962C8B-B14F-4D97-AF65-F5344CB8AC3E}">
        <p14:creationId xmlns:p14="http://schemas.microsoft.com/office/powerpoint/2010/main" val="3625508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Session_Statistic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mailto:uwe.ricken@db-berater.de" TargetMode="External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sqlmaster.de/" TargetMode="External"/><Relationship Id="rId5" Type="http://schemas.openxmlformats.org/officeDocument/2006/relationships/hyperlink" Target="http://www.db-berater.de/" TargetMode="External"/><Relationship Id="rId4" Type="http://schemas.openxmlformats.org/officeDocument/2006/relationships/hyperlink" Target="http://www.twitter.com/dbberater" TargetMode="Externa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rusanu.com/2013/08/01/understanding-how-sql-server-executes-a-query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rusanu.com/2013/08/01/understanding-how-sql-server-executes-a-query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file:///C:\Users\Uwe\OneDrive\Dokumente\db%20Berater%20GmbH\PASS%20Vortr&#228;ge\Sprecheraktvit&#228;ten\SQL%20Server%20Statistiken\0020%20-%20when%20will%20statistics%20objects%20be%20created.sq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33l2vg" TargetMode="External"/><Relationship Id="rId2" Type="http://schemas.openxmlformats.org/officeDocument/2006/relationships/hyperlink" Target="https://blogs.msdn.microsoft.com/saponsqlserver/2011/09/07/changes-to-automatic-update-statistics-in-sql-server-traceflag-2371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0030%20-%20when%20will%20statistics%20be%20updated.sql" TargetMode="Externa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0051%20-%20demonstration%20of%20drawback%20of%20DENSITY_VECTOR.sql" TargetMode="External"/><Relationship Id="rId2" Type="http://schemas.openxmlformats.org/officeDocument/2006/relationships/hyperlink" Target="http://www.db-berater.de/2016/12/abfragen-nicht-mit-variablen-teste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0070%20-%20Statistics%20in%20empty%20tables%20or%20unique%20indexes.sql" TargetMode="External"/><Relationship Id="rId2" Type="http://schemas.openxmlformats.org/officeDocument/2006/relationships/hyperlink" Target="0060%20-%20Statistics%20in%20temporary%20tables%20and%20table%20variables.sq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0080%20-%20Verwendung%20von%20gefilterten%20Statistiken.sq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-berater.de/2015/06/temporaere-tabellen-vs-tabellenvariablen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d-gate.com/community/books/sql-server-statistics" TargetMode="External"/><Relationship Id="rId2" Type="http://schemas.openxmlformats.org/officeDocument/2006/relationships/hyperlink" Target="http://www.red-gate.com/community/books/sql-server-execution-plans-ed-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red-gate.com/community/books/inside-sql-server-query-optimizer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6" y="1491631"/>
            <a:ext cx="8207375" cy="1423020"/>
          </a:xfrm>
        </p:spPr>
        <p:txBody>
          <a:bodyPr/>
          <a:lstStyle/>
          <a:p>
            <a:r>
              <a:rPr lang="de-DE" altLang="de-DE" dirty="0"/>
              <a:t>Statistiken in Microsoft SQL Server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8313" y="2914650"/>
            <a:ext cx="8207374" cy="1817340"/>
          </a:xfrm>
        </p:spPr>
        <p:txBody>
          <a:bodyPr/>
          <a:lstStyle/>
          <a:p>
            <a:pPr marL="2155825" indent="-2155825" algn="l"/>
            <a:r>
              <a:rPr lang="de-DE" altLang="de-DE" dirty="0"/>
              <a:t>Datum:	21.05.2019</a:t>
            </a:r>
          </a:p>
          <a:p>
            <a:pPr marL="2155825" indent="-2155825" algn="l"/>
            <a:r>
              <a:rPr lang="de-DE" altLang="de-DE" dirty="0"/>
              <a:t>Autor:	Uwe Ricken (db Berater GmbH)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9C77AA-1BE2-4DAF-AE5D-D14464B61B26}"/>
              </a:ext>
            </a:extLst>
          </p:cNvPr>
          <p:cNvSpPr txBox="1"/>
          <p:nvPr/>
        </p:nvSpPr>
        <p:spPr>
          <a:xfrm>
            <a:off x="251520" y="3867894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dirty="0">
                <a:hlinkClick r:id="rId2"/>
              </a:rPr>
              <a:t>http://bit.ly/Session_Statistics</a:t>
            </a:r>
            <a:endParaRPr lang="de-DE" sz="3600" dirty="0"/>
          </a:p>
          <a:p>
            <a:pPr algn="ctr"/>
            <a:endParaRPr lang="de-DE" sz="3600" b="1" dirty="0"/>
          </a:p>
        </p:txBody>
      </p:sp>
    </p:spTree>
    <p:extLst>
      <p:ext uri="{BB962C8B-B14F-4D97-AF65-F5344CB8AC3E}">
        <p14:creationId xmlns:p14="http://schemas.microsoft.com/office/powerpoint/2010/main" val="295976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Referentenvorstellung</a:t>
            </a:r>
          </a:p>
        </p:txBody>
      </p:sp>
      <p:sp>
        <p:nvSpPr>
          <p:cNvPr id="512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Uwe Ricken</a:t>
            </a:r>
          </a:p>
          <a:p>
            <a:pPr lvl="1"/>
            <a:r>
              <a:rPr lang="de-DE" dirty="0"/>
              <a:t>Microsoft Certified Master – SQL Server 2008</a:t>
            </a:r>
          </a:p>
          <a:p>
            <a:pPr lvl="1"/>
            <a:r>
              <a:rPr lang="de-DE" dirty="0"/>
              <a:t>Microsoft Certified Solution Master- Charter: Data Platform</a:t>
            </a:r>
          </a:p>
          <a:p>
            <a:pPr lvl="1"/>
            <a:r>
              <a:rPr lang="de-DE" dirty="0"/>
              <a:t>Most </a:t>
            </a:r>
            <a:r>
              <a:rPr lang="de-DE" dirty="0" err="1"/>
              <a:t>Valuable</a:t>
            </a:r>
            <a:r>
              <a:rPr lang="de-DE" dirty="0"/>
              <a:t> Professional (MVP)</a:t>
            </a:r>
          </a:p>
          <a:p>
            <a:endParaRPr lang="de-DE" dirty="0"/>
          </a:p>
          <a:p>
            <a:r>
              <a:rPr lang="de-DE" dirty="0"/>
              <a:t>Kommunikation</a:t>
            </a:r>
          </a:p>
          <a:p>
            <a:pPr marL="342900" lvl="1" indent="0">
              <a:buNone/>
              <a:tabLst>
                <a:tab pos="1278731" algn="l"/>
              </a:tabLst>
            </a:pPr>
            <a:r>
              <a:rPr lang="de-DE" dirty="0"/>
              <a:t>Email:	</a:t>
            </a:r>
            <a:r>
              <a:rPr lang="de-DE" dirty="0">
                <a:hlinkClick r:id="rId3"/>
              </a:rPr>
              <a:t>uwe.ricken@db-berater.de</a:t>
            </a:r>
            <a:endParaRPr lang="de-DE" dirty="0"/>
          </a:p>
          <a:p>
            <a:pPr marL="342900" lvl="1" indent="0">
              <a:buNone/>
              <a:tabLst>
                <a:tab pos="1278731" algn="l"/>
              </a:tabLst>
            </a:pPr>
            <a:r>
              <a:rPr lang="de-DE" dirty="0"/>
              <a:t>Twitter:	</a:t>
            </a:r>
            <a:r>
              <a:rPr lang="de-DE" dirty="0">
                <a:hlinkClick r:id="rId4"/>
              </a:rPr>
              <a:t>@</a:t>
            </a:r>
            <a:r>
              <a:rPr lang="de-DE" dirty="0" err="1">
                <a:hlinkClick r:id="rId4"/>
              </a:rPr>
              <a:t>dbberater</a:t>
            </a:r>
            <a:endParaRPr lang="de-DE" dirty="0"/>
          </a:p>
          <a:p>
            <a:pPr marL="342900" lvl="1" indent="0">
              <a:buNone/>
              <a:tabLst>
                <a:tab pos="1278731" algn="l"/>
              </a:tabLst>
            </a:pPr>
            <a:r>
              <a:rPr lang="de-DE" dirty="0"/>
              <a:t>WWW:	</a:t>
            </a:r>
            <a:r>
              <a:rPr lang="de-DE" dirty="0">
                <a:hlinkClick r:id="rId5"/>
              </a:rPr>
              <a:t>http://www.db-berater.de</a:t>
            </a:r>
            <a:br>
              <a:rPr lang="de-DE" dirty="0"/>
            </a:br>
            <a:r>
              <a:rPr lang="de-DE" dirty="0"/>
              <a:t>Blog:	</a:t>
            </a:r>
            <a:r>
              <a:rPr lang="de-DE" dirty="0">
                <a:hlinkClick r:id="rId6"/>
              </a:rPr>
              <a:t>http://www.sqlmaster.de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238" y="1167594"/>
            <a:ext cx="1404156" cy="140415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648" y="2723696"/>
            <a:ext cx="1336317" cy="977182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926" y="3803815"/>
            <a:ext cx="1399469" cy="57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9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E(u)</a:t>
            </a:r>
            <a:r>
              <a:rPr lang="de-DE" dirty="0" err="1"/>
              <a:t>gine</a:t>
            </a:r>
            <a:r>
              <a:rPr lang="de-DE" dirty="0"/>
              <a:t> </a:t>
            </a:r>
            <a:r>
              <a:rPr lang="de-DE" dirty="0" err="1"/>
              <a:t>Querynator</a:t>
            </a:r>
            <a:endParaRPr lang="de-DE" dirty="0"/>
          </a:p>
        </p:txBody>
      </p:sp>
      <p:pic>
        <p:nvPicPr>
          <p:cNvPr id="4" name="Picture 4" descr="https://www.steigerlegal.ch/wp-content/uploads/2013/03/tuersteher_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675" y="1347614"/>
            <a:ext cx="20574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75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Statistiken und Ausführungspläne</a:t>
            </a:r>
          </a:p>
          <a:p>
            <a:r>
              <a:rPr lang="de-DE" dirty="0"/>
              <a:t>Organisation von Statistiken</a:t>
            </a:r>
          </a:p>
          <a:p>
            <a:r>
              <a:rPr lang="de-DE" dirty="0"/>
              <a:t>DBCC SHOW_STATISTICS</a:t>
            </a:r>
          </a:p>
          <a:p>
            <a:r>
              <a:rPr lang="de-DE" dirty="0" err="1"/>
              <a:t>sys.stats</a:t>
            </a:r>
            <a:r>
              <a:rPr lang="de-DE" dirty="0"/>
              <a:t> und </a:t>
            </a:r>
            <a:r>
              <a:rPr lang="de-DE" dirty="0" err="1"/>
              <a:t>sys.dm_db_stats_properties</a:t>
            </a:r>
            <a:endParaRPr lang="de-DE" dirty="0"/>
          </a:p>
          <a:p>
            <a:r>
              <a:rPr lang="de-DE" dirty="0"/>
              <a:t>Maintenance von Statistiken</a:t>
            </a:r>
          </a:p>
          <a:p>
            <a:r>
              <a:rPr lang="de-DE" dirty="0" err="1"/>
              <a:t>Ascending</a:t>
            </a:r>
            <a:r>
              <a:rPr lang="de-DE" dirty="0"/>
              <a:t> Key Problem</a:t>
            </a:r>
          </a:p>
        </p:txBody>
      </p:sp>
    </p:spTree>
    <p:extLst>
      <p:ext uri="{BB962C8B-B14F-4D97-AF65-F5344CB8AC3E}">
        <p14:creationId xmlns:p14="http://schemas.microsoft.com/office/powerpoint/2010/main" val="330019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25"/>
            <a:ext cx="7813675" cy="4167188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468315" y="4299942"/>
            <a:ext cx="8207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Abbildung: </a:t>
            </a:r>
            <a:r>
              <a:rPr lang="de-DE" sz="1200" b="1" dirty="0">
                <a:hlinkClick r:id="rId3"/>
              </a:rPr>
              <a:t>http://rusanu.com/2013/08/01/understanding-how-sql-server-executes-a-query/</a:t>
            </a:r>
            <a:endParaRPr lang="de-DE" sz="1200" b="1" dirty="0"/>
          </a:p>
        </p:txBody>
      </p:sp>
    </p:spTree>
    <p:extLst>
      <p:ext uri="{BB962C8B-B14F-4D97-AF65-F5344CB8AC3E}">
        <p14:creationId xmlns:p14="http://schemas.microsoft.com/office/powerpoint/2010/main" val="980246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468315" y="4299942"/>
            <a:ext cx="8207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Abbildung: </a:t>
            </a:r>
            <a:r>
              <a:rPr lang="de-DE" sz="1200" b="1" dirty="0">
                <a:hlinkClick r:id="rId2"/>
              </a:rPr>
              <a:t>http://rusanu.com/2013/08/01/understanding-how-sql-server-executes-a-query/</a:t>
            </a:r>
            <a:endParaRPr lang="de-DE" sz="1200" b="1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92194"/>
            <a:ext cx="78105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90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Metadaten für Beispiele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Tabelle [</a:t>
            </a:r>
            <a:r>
              <a:rPr lang="de-DE" dirty="0" err="1"/>
              <a:t>dbo</a:t>
            </a:r>
            <a:r>
              <a:rPr lang="de-DE" dirty="0"/>
              <a:t>].[</a:t>
            </a:r>
            <a:r>
              <a:rPr lang="de-DE" dirty="0" err="1"/>
              <a:t>messages</a:t>
            </a:r>
            <a:r>
              <a:rPr lang="de-DE" dirty="0"/>
              <a:t>]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Clustered Index [</a:t>
            </a:r>
            <a:r>
              <a:rPr lang="de-DE" dirty="0" err="1">
                <a:solidFill>
                  <a:srgbClr val="FF0000"/>
                </a:solidFill>
              </a:rPr>
              <a:t>cuix_messages_message_id</a:t>
            </a:r>
            <a:r>
              <a:rPr lang="de-DE" dirty="0"/>
              <a:t>]</a:t>
            </a:r>
          </a:p>
          <a:p>
            <a:r>
              <a:rPr lang="de-DE" dirty="0"/>
              <a:t>Nonclustered Index [</a:t>
            </a:r>
            <a:r>
              <a:rPr lang="de-DE" dirty="0" err="1">
                <a:solidFill>
                  <a:srgbClr val="00B050"/>
                </a:solidFill>
              </a:rPr>
              <a:t>nix_messages_severity</a:t>
            </a:r>
            <a:r>
              <a:rPr lang="de-DE" dirty="0"/>
              <a:t>]</a:t>
            </a:r>
          </a:p>
          <a:p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1635646"/>
            <a:ext cx="72485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69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Statistiken und Ausführungspläne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Statistiken werden von Microsoft SQL Server benötigt, um adäquate Ausführungspläne zu generieren.</a:t>
            </a:r>
          </a:p>
          <a:p>
            <a:r>
              <a:rPr lang="de-DE" dirty="0"/>
              <a:t>Statistiken werden automatisch für Indexe erstellt.</a:t>
            </a:r>
          </a:p>
          <a:p>
            <a:r>
              <a:rPr lang="de-DE" dirty="0"/>
              <a:t>Werden Attribute in einer WHERE Klausel verwendet, die nicht indexiert sind, generiert Microsoft SQL Server automatisch Statistiken, wenn die Option aktiviert ist.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5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Datenbankeinstellungen für Statistiken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ALTER DATABASE </a:t>
            </a:r>
            <a:r>
              <a:rPr lang="en-US" sz="1800" b="1" dirty="0">
                <a:latin typeface="Lucida Console" panose="020B0609040504020204" pitchFamily="49" charset="0"/>
              </a:rPr>
              <a:t>&lt;name&gt;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SET AUTO_CREATE_STATISTICS ON</a:t>
            </a:r>
            <a:b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</a:b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[</a:t>
            </a:r>
            <a:r>
              <a:rPr lang="de-DE" sz="1800" b="1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(INCREMENTAL = ON)</a:t>
            </a:r>
            <a:r>
              <a:rPr lang="de-DE" sz="1800" b="1" dirty="0">
                <a:latin typeface="Lucida Console" panose="020B0609040504020204" pitchFamily="49" charset="0"/>
              </a:rPr>
              <a:t>]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1800" b="1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ALTER DATABASE </a:t>
            </a:r>
            <a:r>
              <a:rPr lang="en-US" sz="1800" b="1" dirty="0">
                <a:latin typeface="Lucida Console" panose="020B0609040504020204" pitchFamily="49" charset="0"/>
              </a:rPr>
              <a:t>&lt;name&gt;</a:t>
            </a:r>
            <a:r>
              <a:rPr lang="de-DE" sz="1800" b="1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 SET AUTO_UPDATE_STATISTICS ON;</a:t>
            </a:r>
          </a:p>
          <a:p>
            <a:pPr marL="0" indent="0">
              <a:buNone/>
            </a:pPr>
            <a:r>
              <a:rPr lang="de-DE" sz="1800" b="1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ALTER DATABASE </a:t>
            </a:r>
            <a:r>
              <a:rPr lang="en-US" sz="1800" b="1" dirty="0">
                <a:latin typeface="Lucida Console" panose="020B0609040504020204" pitchFamily="49" charset="0"/>
              </a:rPr>
              <a:t>&lt;name&gt;</a:t>
            </a:r>
            <a:r>
              <a:rPr lang="de-DE" sz="1800" b="1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 SET AUTO_UPDATE_STATISTICS_ASYNC ON;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80" y="2961832"/>
            <a:ext cx="5248275" cy="1400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52523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AUTO_CREATE_STATISTICS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Der Abfrageoptimierer erstellt nach Bedarf Statistiken für einzelne Spalten in Abfrageprädikaten, um Abfragepläne und die Abfrageleistung zu verbessern.</a:t>
            </a:r>
          </a:p>
          <a:p>
            <a:r>
              <a:rPr lang="de-DE" dirty="0"/>
              <a:t>Diese Statistiken für einzelne Spalten werden erstellt, wenn der Abfrageoptimierer Abfragen kompiliert.</a:t>
            </a:r>
          </a:p>
        </p:txBody>
      </p:sp>
      <p:pic>
        <p:nvPicPr>
          <p:cNvPr id="6" name="Inhaltsplatzhalter 3" descr="Don’t wait just download the free demo of 1V0-604 practice test and ...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091" y="3939902"/>
            <a:ext cx="1081236" cy="54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59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AUTO_UPDATE_STATISTICS { ON | OFF }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Aktualisiert Statistiken, wenn sie von einer Abfrage verwendet werden und veraltet sein könnten.</a:t>
            </a:r>
          </a:p>
          <a:p>
            <a:r>
              <a:rPr lang="de-DE" dirty="0"/>
              <a:t>Statistiken sind veraltet, wenn durch die Vorgänge INSERT, UPDATE, DELETE oder MERGE Daten geändert wurden.</a:t>
            </a:r>
          </a:p>
          <a:p>
            <a:r>
              <a:rPr lang="de-DE" dirty="0"/>
              <a:t>Der Abfrageoptimierer stellt fest, wann Statistiken veraltet sein könnten, indem er die Anzahl der Datenänderungen seit dem letzten Statistikupdate ermittelt und sie mit einem Schwellenwert vergleicht.</a:t>
            </a:r>
          </a:p>
        </p:txBody>
      </p:sp>
    </p:spTree>
    <p:extLst>
      <p:ext uri="{BB962C8B-B14F-4D97-AF65-F5344CB8AC3E}">
        <p14:creationId xmlns:p14="http://schemas.microsoft.com/office/powerpoint/2010/main" val="1728595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Algorithmus für AUTO_UPDATE_STATISTICS: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369219"/>
            <a:ext cx="3943350" cy="2992788"/>
          </a:xfrm>
        </p:spPr>
        <p:txBody>
          <a:bodyPr>
            <a:normAutofit fontScale="92500" lnSpcReduction="10000"/>
          </a:bodyPr>
          <a:lstStyle/>
          <a:p>
            <a:r>
              <a:rPr lang="de-DE" sz="1800" dirty="0"/>
              <a:t>Wenn die Kardinalität in einer Tabelle zwischen 7 und 500 liegt, werden die Statistiken nach 500 Modifikationen aktualisiert.</a:t>
            </a:r>
          </a:p>
          <a:p>
            <a:r>
              <a:rPr lang="de-DE" sz="1800" dirty="0"/>
              <a:t>Wenn die Kardinalität einer Tabelle größer als 500 ist, werden die Statistiken aktualisiert wenn 500 + 20% der Datensätze modifiziert wurden.</a:t>
            </a:r>
          </a:p>
          <a:p>
            <a:r>
              <a:rPr lang="de-DE" sz="1800" dirty="0"/>
              <a:t>AUTO_UPDATE kann zu Anomalien führen, da nur ein Prozentanteil der Daten für die Erstellung des Histogramms verwendet wird!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half" idx="4294967295"/>
          </p:nvPr>
        </p:nvSpPr>
        <p:spPr>
          <a:xfrm>
            <a:off x="5105400" y="1200150"/>
            <a:ext cx="4038600" cy="3394075"/>
          </a:xfrm>
        </p:spPr>
        <p:txBody>
          <a:bodyPr>
            <a:noAutofit/>
          </a:bodyPr>
          <a:lstStyle/>
          <a:p>
            <a:r>
              <a:rPr lang="de-DE" sz="1400" b="1" dirty="0">
                <a:solidFill>
                  <a:srgbClr val="FF0000"/>
                </a:solidFill>
              </a:rPr>
              <a:t>TF 2371 oder</a:t>
            </a:r>
          </a:p>
          <a:p>
            <a:r>
              <a:rPr lang="de-DE" sz="1400" b="1" dirty="0">
                <a:solidFill>
                  <a:srgbClr val="FF0000"/>
                </a:solidFill>
              </a:rPr>
              <a:t>SQL Server 2016</a:t>
            </a:r>
            <a:br>
              <a:rPr lang="de-DE" sz="1400" dirty="0"/>
            </a:br>
            <a:br>
              <a:rPr lang="de-DE" sz="1400" dirty="0"/>
            </a:br>
            <a:endParaRPr lang="de-DE" sz="1400" dirty="0"/>
          </a:p>
          <a:p>
            <a:endParaRPr lang="de-DE" sz="1400" dirty="0"/>
          </a:p>
          <a:p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br>
              <a:rPr lang="de-DE" sz="1400" dirty="0"/>
            </a:br>
            <a:endParaRPr lang="de-DE" sz="1400" dirty="0">
              <a:hlinkClick r:id="rId2"/>
            </a:endParaRPr>
          </a:p>
          <a:p>
            <a:br>
              <a:rPr lang="de-DE" sz="1400" dirty="0"/>
            </a:br>
            <a:br>
              <a:rPr lang="de-DE" sz="1400" dirty="0"/>
            </a:br>
            <a:r>
              <a:rPr lang="de-DE" sz="1400" dirty="0">
                <a:hlinkClick r:id="rId3"/>
              </a:rPr>
              <a:t>http://bit.ly/233l2vg</a:t>
            </a:r>
            <a:endParaRPr lang="de-DE" sz="14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319" y="1728545"/>
            <a:ext cx="4036482" cy="2499389"/>
          </a:xfrm>
          <a:prstGeom prst="rect">
            <a:avLst/>
          </a:prstGeom>
        </p:spPr>
      </p:pic>
      <p:pic>
        <p:nvPicPr>
          <p:cNvPr id="10" name="Inhaltsplatzhalter 3" descr="Don’t wait just download the free demo of 1V0-604 practice test and ...">
            <a:hlinkClick r:id="rId5" action="ppaction://hlinkfile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3939902"/>
            <a:ext cx="1081236" cy="54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00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AUTO_UPDATE_STATISTICS_ASYNC { ON | OFF }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Gibt an, dass Statistikupdates für die AUTO_UPDATE_STATISTICS-Option asynchron sind.</a:t>
            </a:r>
          </a:p>
          <a:p>
            <a:r>
              <a:rPr lang="de-DE" dirty="0"/>
              <a:t>Der Abfrageoptimierer wartet nicht, bis Statistikupdates abgeschlossen sind, bevor Abfragen kompiliert werden.</a:t>
            </a:r>
          </a:p>
          <a:p>
            <a:r>
              <a:rPr lang="de-DE" dirty="0"/>
              <a:t>Das Festlegen dieser Option auf ON hat nur dann Auswirkungen, wenn AUTO_UPDATE_STATISTICS auf ON festgelegt ist.</a:t>
            </a:r>
          </a:p>
        </p:txBody>
      </p:sp>
    </p:spTree>
    <p:extLst>
      <p:ext uri="{BB962C8B-B14F-4D97-AF65-F5344CB8AC3E}">
        <p14:creationId xmlns:p14="http://schemas.microsoft.com/office/powerpoint/2010/main" val="4083235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Organisation von Statistiken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STATS_HEADER</a:t>
            </a:r>
          </a:p>
          <a:p>
            <a:pPr lvl="1"/>
            <a:r>
              <a:rPr lang="de-DE" dirty="0"/>
              <a:t>Allgemeine Informationen zum Statistikobjekt</a:t>
            </a:r>
          </a:p>
          <a:p>
            <a:r>
              <a:rPr lang="de-DE" dirty="0"/>
              <a:t>DENSITY_VECTOR</a:t>
            </a:r>
          </a:p>
          <a:p>
            <a:pPr lvl="1"/>
            <a:r>
              <a:rPr lang="de-DE" dirty="0"/>
              <a:t>Durchschnittliche Verteilung von Datensätzen pro eindeutiger Attributkombination</a:t>
            </a:r>
          </a:p>
          <a:p>
            <a:r>
              <a:rPr lang="de-DE" dirty="0"/>
              <a:t>HISTOGRAM</a:t>
            </a:r>
          </a:p>
          <a:p>
            <a:pPr lvl="1"/>
            <a:r>
              <a:rPr lang="de-DE" dirty="0"/>
              <a:t>Verteilung des ersten Schlüsselattributs</a:t>
            </a:r>
            <a:br>
              <a:rPr lang="de-DE" dirty="0"/>
            </a:br>
            <a:r>
              <a:rPr lang="de-DE" dirty="0"/>
              <a:t>auf Datenmenge</a:t>
            </a:r>
          </a:p>
        </p:txBody>
      </p:sp>
      <p:pic>
        <p:nvPicPr>
          <p:cNvPr id="4" name="Inhaltsplatzhalter 3" descr="Don’t wait just download the free demo of 1V0-604 practice test and ..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091" y="3939902"/>
            <a:ext cx="1081236" cy="54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3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Verwendung von Statistikobjekten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Das Histogramm einer Statistik kann nur verwendet werden, wenn zur Kompilierzeit der Wert des Prädikats bekannt ist!</a:t>
            </a:r>
          </a:p>
          <a:p>
            <a:r>
              <a:rPr lang="de-DE" dirty="0"/>
              <a:t>Wenn der Wert nicht bekannt ist, kann nur der </a:t>
            </a:r>
            <a:r>
              <a:rPr lang="de-DE" dirty="0" err="1"/>
              <a:t>Density</a:t>
            </a:r>
            <a:r>
              <a:rPr lang="de-DE" dirty="0"/>
              <a:t> Vektor von Microsoft SQL Server verwendet werden.</a:t>
            </a:r>
            <a:br>
              <a:rPr lang="de-DE" dirty="0"/>
            </a:br>
            <a:br>
              <a:rPr lang="de-DE" dirty="0"/>
            </a:br>
            <a:r>
              <a:rPr lang="de-DE" sz="1800" dirty="0">
                <a:hlinkClick r:id="rId2"/>
              </a:rPr>
              <a:t>http://www.db-berater.de/2016/12/abfragen-nicht-mit-variablen-testen/</a:t>
            </a:r>
            <a:endParaRPr lang="de-DE" sz="1800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6" name="Inhaltsplatzhalter 3" descr="Don’t wait just download the free demo of 1V0-604 practice test and ...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091" y="3939902"/>
            <a:ext cx="1081236" cy="54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43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Hintergrundinformationen zu Statistiken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hlinkClick r:id="rId2" action="ppaction://hlinkfile"/>
              </a:rPr>
              <a:t>Statistiken in temporären Tabellen </a:t>
            </a:r>
            <a:r>
              <a:rPr lang="de-DE" dirty="0" err="1">
                <a:hlinkClick r:id="rId2" action="ppaction://hlinkfile"/>
              </a:rPr>
              <a:t>vs</a:t>
            </a:r>
            <a:r>
              <a:rPr lang="de-DE" dirty="0">
                <a:hlinkClick r:id="rId2" action="ppaction://hlinkfile"/>
              </a:rPr>
              <a:t> @Tabellenvariablen</a:t>
            </a:r>
            <a:endParaRPr lang="de-DE" dirty="0"/>
          </a:p>
          <a:p>
            <a:r>
              <a:rPr lang="de-DE" dirty="0">
                <a:hlinkClick r:id="rId3" action="ppaction://hlinkfile"/>
              </a:rPr>
              <a:t>Aktualisierung von Statistiken für leere Tabellen</a:t>
            </a:r>
            <a:endParaRPr lang="de-DE" dirty="0"/>
          </a:p>
          <a:p>
            <a:r>
              <a:rPr lang="de-DE" dirty="0">
                <a:hlinkClick r:id="rId3" action="ppaction://hlinkfile"/>
              </a:rPr>
              <a:t>Aktualisierung von Statistiken bei UNIQUE Indexschlüssel</a:t>
            </a:r>
            <a:endParaRPr lang="de-DE" dirty="0"/>
          </a:p>
          <a:p>
            <a:r>
              <a:rPr lang="de-DE" dirty="0">
                <a:hlinkClick r:id="rId4" action="ppaction://hlinkfile"/>
              </a:rPr>
              <a:t>Gefilterte Statistiken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6710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Temporäre Tabellen </a:t>
            </a:r>
            <a:r>
              <a:rPr lang="de-DE" dirty="0" err="1"/>
              <a:t>vs</a:t>
            </a:r>
            <a:r>
              <a:rPr lang="de-DE" dirty="0"/>
              <a:t> Tabellenvariablen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Temporäre Tabellen können Statistiken verwenden</a:t>
            </a:r>
          </a:p>
          <a:p>
            <a:r>
              <a:rPr lang="de-DE" dirty="0"/>
              <a:t>Tabellenvariablen besitzen keine Möglichkeit, Statistiken zu verwenden</a:t>
            </a:r>
          </a:p>
          <a:p>
            <a:r>
              <a:rPr lang="de-DE" dirty="0"/>
              <a:t>Die Option RECOMPILE bewirkt bei Abfragen mit Tabellenvariablen eine erneute Abfrage des Inhalts der Tabellenvariable!</a:t>
            </a:r>
            <a:br>
              <a:rPr lang="de-DE" dirty="0"/>
            </a:br>
            <a:br>
              <a:rPr lang="de-DE" dirty="0"/>
            </a:br>
            <a:r>
              <a:rPr lang="de-DE" sz="1400" dirty="0">
                <a:hlinkClick r:id="rId3"/>
              </a:rPr>
              <a:t>http://www.db-berater.de/2015/06/temporaere-tabellen-vs-tabellenvariablen/</a:t>
            </a:r>
            <a:endParaRPr lang="de-DE" sz="1400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3972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Leere Tabellen / eindeutige Indexe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Wenn eine Tabelle noch keine Daten besitzt, werden keine Histogrammdaten der Statistiken geladen</a:t>
            </a:r>
          </a:p>
          <a:p>
            <a:r>
              <a:rPr lang="de-DE" dirty="0"/>
              <a:t>Ist der Ausführungsplan „</a:t>
            </a:r>
            <a:r>
              <a:rPr lang="de-DE" dirty="0" err="1"/>
              <a:t>safe</a:t>
            </a:r>
            <a:r>
              <a:rPr lang="de-DE" dirty="0"/>
              <a:t>“ (die Anzahl der resultierenden Datensätze ist vorhersehbar!), werden Histogrammdaten nicht geladen, da der vorhandene Ausführungsplan aus dem Cache verwendet wird!</a:t>
            </a:r>
          </a:p>
          <a:p>
            <a:r>
              <a:rPr lang="de-DE" dirty="0"/>
              <a:t>Ist der Ausführungsplan „</a:t>
            </a:r>
            <a:r>
              <a:rPr lang="de-DE" dirty="0" err="1"/>
              <a:t>unsafe</a:t>
            </a:r>
            <a:r>
              <a:rPr lang="de-DE" dirty="0"/>
              <a:t>“ (die Anzahl der resultierenden Datensätze ist nicht vorhersehbar!), werden Histogrammdaten des Statistikobjekts erneut geladen!</a:t>
            </a:r>
          </a:p>
        </p:txBody>
      </p:sp>
    </p:spTree>
    <p:extLst>
      <p:ext uri="{BB962C8B-B14F-4D97-AF65-F5344CB8AC3E}">
        <p14:creationId xmlns:p14="http://schemas.microsoft.com/office/powerpoint/2010/main" val="1896475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Ascending</a:t>
            </a:r>
            <a:r>
              <a:rPr lang="de-DE" dirty="0"/>
              <a:t> Key Problem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TF 2371</a:t>
            </a:r>
          </a:p>
          <a:p>
            <a:pPr lvl="1"/>
            <a:r>
              <a:rPr lang="de-DE" dirty="0"/>
              <a:t>Statistiken werden nach anderem Verfahren aktualisiert (häufiger). </a:t>
            </a:r>
          </a:p>
          <a:p>
            <a:r>
              <a:rPr lang="de-DE" dirty="0"/>
              <a:t>TF 2388</a:t>
            </a:r>
          </a:p>
          <a:p>
            <a:pPr lvl="1"/>
            <a:r>
              <a:rPr lang="de-DE" dirty="0"/>
              <a:t>DBCC SHOW_STATISTICS zeigt zusätzliche Informationen zum Verhalten eines Attributs</a:t>
            </a:r>
          </a:p>
          <a:p>
            <a:r>
              <a:rPr lang="de-DE" dirty="0"/>
              <a:t>TF 2389</a:t>
            </a:r>
          </a:p>
          <a:p>
            <a:pPr lvl="1"/>
            <a:r>
              <a:rPr lang="de-DE" dirty="0"/>
              <a:t>Aktiviert Auto-Quick-Statistiken für Attribute, die als ASC gekennzeichnet sind</a:t>
            </a:r>
          </a:p>
          <a:p>
            <a:r>
              <a:rPr lang="de-DE" dirty="0"/>
              <a:t>TF 2390</a:t>
            </a:r>
          </a:p>
          <a:p>
            <a:pPr lvl="1"/>
            <a:r>
              <a:rPr lang="de-DE" dirty="0"/>
              <a:t>Aktiviert Auto-Quick-Statistiken für ALLE Spalten unabhängig davon, ob sie als ASC gekennzeichnet sind.</a:t>
            </a:r>
          </a:p>
          <a:p>
            <a:pPr lvl="1"/>
            <a:r>
              <a:rPr lang="de-DE" dirty="0"/>
              <a:t>2389 und 2390 immer gemeinsam aktivieren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2598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Maintenance von Statistiken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Statistiken sollten regelmäßig aktualisiert werden, damit effiziente Ausführungspläne erstellt werden können</a:t>
            </a:r>
          </a:p>
          <a:p>
            <a:r>
              <a:rPr lang="de-DE" dirty="0"/>
              <a:t>Statistiken werden unter folgenden Bedingungen NEU erstellt:</a:t>
            </a:r>
          </a:p>
          <a:p>
            <a:pPr lvl="1"/>
            <a:r>
              <a:rPr lang="de-DE" dirty="0"/>
              <a:t>Erstellung / REBUILD eines Index</a:t>
            </a:r>
          </a:p>
          <a:p>
            <a:pPr lvl="1"/>
            <a:r>
              <a:rPr lang="de-DE" dirty="0"/>
              <a:t>Ausführung von </a:t>
            </a:r>
            <a:r>
              <a:rPr lang="de-DE" dirty="0" err="1"/>
              <a:t>sp_updatestats</a:t>
            </a:r>
            <a:endParaRPr lang="de-DE" dirty="0"/>
          </a:p>
          <a:p>
            <a:pPr lvl="1"/>
            <a:r>
              <a:rPr lang="de-DE" dirty="0"/>
              <a:t>Ausführung von UPDATE STATISTICS</a:t>
            </a:r>
          </a:p>
          <a:p>
            <a:pPr lvl="1"/>
            <a:r>
              <a:rPr lang="de-DE" dirty="0"/>
              <a:t>Anzahl der Aktualisierungen liegt über dem Schwellwert</a:t>
            </a:r>
          </a:p>
          <a:p>
            <a:r>
              <a:rPr lang="de-DE" dirty="0"/>
              <a:t>Samplerate liegt per Standard bei 10% kann aber durch die Option WITH FULLSCAN für die ganze Tabelle verwenden.</a:t>
            </a:r>
          </a:p>
        </p:txBody>
      </p:sp>
    </p:spTree>
    <p:extLst>
      <p:ext uri="{BB962C8B-B14F-4D97-AF65-F5344CB8AC3E}">
        <p14:creationId xmlns:p14="http://schemas.microsoft.com/office/powerpoint/2010/main" val="766496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FRAGEN?</a:t>
            </a:r>
            <a:endParaRPr lang="de-DE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690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Literaturempfehlungen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dirty="0"/>
              <a:t>SQL Server </a:t>
            </a:r>
            <a:r>
              <a:rPr lang="de-DE" sz="1800" dirty="0" err="1"/>
              <a:t>Execution</a:t>
            </a:r>
            <a:r>
              <a:rPr lang="de-DE" sz="1800" dirty="0"/>
              <a:t> Plans – 2nd Edition</a:t>
            </a:r>
          </a:p>
          <a:p>
            <a:pPr lvl="1"/>
            <a:r>
              <a:rPr lang="de-DE" sz="1800" dirty="0"/>
              <a:t>Grant Fritchey</a:t>
            </a:r>
            <a:br>
              <a:rPr lang="de-DE" sz="1800" dirty="0"/>
            </a:br>
            <a:r>
              <a:rPr lang="de-DE" sz="1800" dirty="0">
                <a:hlinkClick r:id="rId2"/>
              </a:rPr>
              <a:t>http://www.red-gate.com/community/books/sql-server-execution-plans-ed-2</a:t>
            </a:r>
            <a:endParaRPr lang="de-DE" sz="1800" dirty="0"/>
          </a:p>
          <a:p>
            <a:r>
              <a:rPr lang="de-DE" sz="1800" dirty="0"/>
              <a:t>SQL Server Statistics</a:t>
            </a:r>
          </a:p>
          <a:p>
            <a:pPr lvl="1"/>
            <a:r>
              <a:rPr lang="de-DE" sz="1800" dirty="0"/>
              <a:t>Holger Schmeling</a:t>
            </a:r>
            <a:br>
              <a:rPr lang="de-DE" sz="1800" dirty="0"/>
            </a:br>
            <a:r>
              <a:rPr lang="de-DE" sz="1800" dirty="0">
                <a:hlinkClick r:id="rId3"/>
              </a:rPr>
              <a:t>http://www.red-gate.com/community/books/sql-server-statistics</a:t>
            </a:r>
            <a:endParaRPr lang="de-DE" sz="1800" dirty="0"/>
          </a:p>
          <a:p>
            <a:r>
              <a:rPr lang="en-US" sz="1800" dirty="0"/>
              <a:t>Inside the SQL Server Query Optimizer</a:t>
            </a:r>
          </a:p>
          <a:p>
            <a:pPr lvl="1"/>
            <a:r>
              <a:rPr lang="en-US" sz="1800" dirty="0"/>
              <a:t>Benjamin Nevarez</a:t>
            </a:r>
            <a:br>
              <a:rPr lang="en-US" sz="1800" dirty="0"/>
            </a:br>
            <a:r>
              <a:rPr lang="en-US" sz="1800" dirty="0">
                <a:hlinkClick r:id="rId4"/>
              </a:rPr>
              <a:t>http://www.red-gate.com/community/books/inside-sql-server-query-optimizer</a:t>
            </a:r>
            <a:endParaRPr lang="en-US" sz="1800" dirty="0"/>
          </a:p>
          <a:p>
            <a:endParaRPr lang="de-DE" sz="1800" dirty="0"/>
          </a:p>
          <a:p>
            <a:pPr lvl="1"/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528985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el 3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de-DE" sz="6000" dirty="0"/>
              <a:t>Vielen Dank!</a:t>
            </a:r>
          </a:p>
        </p:txBody>
      </p:sp>
      <p:sp>
        <p:nvSpPr>
          <p:cNvPr id="8195" name="Untertitel 4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/>
          <a:p>
            <a:pPr marL="0" indent="0" algn="ctr">
              <a:buNone/>
            </a:pPr>
            <a:r>
              <a:rPr lang="de-DE" dirty="0">
                <a:latin typeface="Segoe UI Light" panose="020B0502040204020203" pitchFamily="34" charset="0"/>
                <a:cs typeface="Segoe UI Light" panose="020B0502040204020203" pitchFamily="34" charset="0"/>
              </a:rPr>
              <a:t>Uwe Ricken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601671" y="1005577"/>
            <a:ext cx="5832872" cy="4847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de-DE" sz="2700" dirty="0">
                <a:latin typeface="Segoe UI Light" panose="020B0502040204020203" pitchFamily="34" charset="0"/>
                <a:cs typeface="Segoe UI Light" panose="020B0502040204020203" pitchFamily="34" charset="0"/>
              </a:rPr>
              <a:t>Ich freue mich auf Ihr Feedback!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1143000" y="4840003"/>
            <a:ext cx="944724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Partner:</a:t>
            </a:r>
          </a:p>
        </p:txBody>
      </p:sp>
    </p:spTree>
    <p:extLst>
      <p:ext uri="{BB962C8B-B14F-4D97-AF65-F5344CB8AC3E}">
        <p14:creationId xmlns:p14="http://schemas.microsoft.com/office/powerpoint/2010/main" val="262823617"/>
      </p:ext>
    </p:extLst>
  </p:cSld>
  <p:clrMapOvr>
    <a:masterClrMapping/>
  </p:clrMapOvr>
</p:sld>
</file>

<file path=ppt/theme/theme1.xml><?xml version="1.0" encoding="utf-8"?>
<a:theme xmlns:a="http://schemas.openxmlformats.org/drawingml/2006/main" name="3_SQLKonferenz_PPT_Vorlage_16zu9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-gmbh.potx" id="{AD397B56-4898-4AF3-9AB9-03EEE42D085F}" vid="{01EE57B7-82FE-4A4F-A06B-31462649C88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SQLKonferenz 2017</Template>
  <TotalTime>0</TotalTime>
  <Words>801</Words>
  <Application>Microsoft Office PowerPoint</Application>
  <PresentationFormat>Bildschirmpräsentation (16:9)</PresentationFormat>
  <Paragraphs>116</Paragraphs>
  <Slides>23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0" baseType="lpstr">
      <vt:lpstr>Arial</vt:lpstr>
      <vt:lpstr>Calibri</vt:lpstr>
      <vt:lpstr>Courier New</vt:lpstr>
      <vt:lpstr>Lucida Console</vt:lpstr>
      <vt:lpstr>Segoe UI</vt:lpstr>
      <vt:lpstr>Segoe UI Light</vt:lpstr>
      <vt:lpstr>3_SQLKonferenz_PPT_Vorlage_16zu9</vt:lpstr>
      <vt:lpstr>Statistiken in Microsoft SQL Server</vt:lpstr>
      <vt:lpstr>Referentenvorstellung</vt:lpstr>
      <vt:lpstr>E(u)gine Querynator</vt:lpstr>
      <vt:lpstr>Agenda</vt:lpstr>
      <vt:lpstr>PowerPoint-Präsentation</vt:lpstr>
      <vt:lpstr>PowerPoint-Präsentation</vt:lpstr>
      <vt:lpstr>Metadaten für Beispiele</vt:lpstr>
      <vt:lpstr>Statistiken und Ausführungspläne</vt:lpstr>
      <vt:lpstr>Datenbankeinstellungen für Statistiken</vt:lpstr>
      <vt:lpstr>AUTO_CREATE_STATISTICS</vt:lpstr>
      <vt:lpstr>AUTO_UPDATE_STATISTICS { ON | OFF }</vt:lpstr>
      <vt:lpstr>Algorithmus für AUTO_UPDATE_STATISTICS:</vt:lpstr>
      <vt:lpstr>AUTO_UPDATE_STATISTICS_ASYNC { ON | OFF }</vt:lpstr>
      <vt:lpstr>Organisation von Statistiken</vt:lpstr>
      <vt:lpstr>Verwendung von Statistikobjekten</vt:lpstr>
      <vt:lpstr>Hintergrundinformationen zu Statistiken</vt:lpstr>
      <vt:lpstr>Temporäre Tabellen vs Tabellenvariablen</vt:lpstr>
      <vt:lpstr>Leere Tabellen / eindeutige Indexe</vt:lpstr>
      <vt:lpstr>Ascending Key Problem</vt:lpstr>
      <vt:lpstr>Maintenance von Statistiken</vt:lpstr>
      <vt:lpstr>FRAGEN?</vt:lpstr>
      <vt:lpstr>Literaturempfehlungen</vt:lpstr>
      <vt:lpstr>Vielen Dank!</vt:lpstr>
    </vt:vector>
  </TitlesOfParts>
  <Company>db Berater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SQL Server Statistiken</dc:title>
  <dc:creator>Uwe Ricken</dc:creator>
  <cp:lastModifiedBy>Uwe Ricken</cp:lastModifiedBy>
  <cp:revision>92</cp:revision>
  <dcterms:created xsi:type="dcterms:W3CDTF">2015-03-20T13:47:00Z</dcterms:created>
  <dcterms:modified xsi:type="dcterms:W3CDTF">2019-05-22T13:07:39Z</dcterms:modified>
</cp:coreProperties>
</file>